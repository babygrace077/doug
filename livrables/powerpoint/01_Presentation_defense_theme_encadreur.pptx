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VALIDATION DU THÈME DE MÉMOIRE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Proposition d’une architecture Zero Trust pour le contrôle de fidélité des agents IA : cadre de sécurisation et prototype applicables aux processus métier de l’ART Cameroun.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Grace Divine Tchuenteu Ebe'ete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Agence de Régulation des Télécommunications (ART) — Cameroun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Durée restante : 2 mois  •  Soutenance le dernier jour du 2ᵉ mois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1. Contexte et enjeu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•  L’ART traite des données et processus sensibles (dossiers, plaintes, décisions).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•  Les agents IA peuvent enchaîner des actions autonomes (outils, APIs, fichiers).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•  Nouveaux risques : prompt injection, abus d’outils, fuite de données, non-traçabilité.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•  Le Zero Trust impose : authentifier, autoriser, vérifier en continu, auditer.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•  La fidélité = conformité des actions de l’agent à sa mission et aux politiques.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2. Problématique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0332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457200"/>
          <a:lstStyle/>
          <a:p>
            <a:pPr algn="ctr">
              <a:defRPr sz="2200">
                <a:solidFill>
                  <a:srgbClr val="0B3D5C"/>
                </a:solidFill>
                <a:latin typeface="Calibri"/>
              </a:defRPr>
            </a:pPr>
            <a:r>
              <a:t>Comment concevoir et démontrer une architecture Zero Trust capable de garantir la fidélité des actions d’un agent IA dans un cas d’usage réaliste de l’ART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3. Objectifs et livrables (réalistes en 2 mois)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20040"/>
          <a:lstStyle/>
          <a:p>
            <a:pPr algn="ctr">
              <a:defRPr b="1" sz="1600">
                <a:solidFill>
                  <a:srgbClr val="0B3D5C"/>
                </a:solidFill>
              </a:defRPr>
            </a:pPr>
            <a:r>
              <a:t>Cadre théorique</a:t>
            </a:r>
          </a:p>
          <a:p>
            <a:pPr>
              <a:defRPr sz="1400">
                <a:solidFill>
                  <a:srgbClr val="1A1A1A"/>
                </a:solidFill>
              </a:defRPr>
            </a:pPr>
            <a:r>
              <a:t>État de l’art Zero Trust × sécurité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8016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20040"/>
          <a:lstStyle/>
          <a:p>
            <a:pPr algn="ctr">
              <a:defRPr b="1" sz="1600">
                <a:solidFill>
                  <a:srgbClr val="0B3D5C"/>
                </a:solidFill>
              </a:defRPr>
            </a:pPr>
            <a:r>
              <a:t>Ancrage ART</a:t>
            </a:r>
          </a:p>
          <a:p>
            <a:pPr>
              <a:defRPr sz="1400">
                <a:solidFill>
                  <a:srgbClr val="1A1A1A"/>
                </a:solidFill>
              </a:defRPr>
            </a:pPr>
            <a:r>
              <a:t>1 cas d’usage documentaire réglementaire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28016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20040"/>
          <a:lstStyle/>
          <a:p>
            <a:pPr algn="ctr">
              <a:defRPr b="1" sz="1600">
                <a:solidFill>
                  <a:srgbClr val="0B3D5C"/>
                </a:solidFill>
              </a:defRPr>
            </a:pPr>
            <a:r>
              <a:t>Conception</a:t>
            </a:r>
          </a:p>
          <a:p>
            <a:pPr>
              <a:defRPr sz="1400">
                <a:solidFill>
                  <a:srgbClr val="1A1A1A"/>
                </a:solidFill>
              </a:defRPr>
            </a:pPr>
            <a:r>
              <a:t>Architecture identité / politiques / 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20040"/>
          <a:lstStyle/>
          <a:p>
            <a:pPr algn="ctr">
              <a:defRPr b="1" sz="1600">
                <a:solidFill>
                  <a:srgbClr val="0B3D5C"/>
                </a:solidFill>
              </a:defRPr>
            </a:pPr>
            <a:r>
              <a:t>Preuve</a:t>
            </a:r>
          </a:p>
          <a:p>
            <a:pPr>
              <a:defRPr sz="1400">
                <a:solidFill>
                  <a:srgbClr val="1A1A1A"/>
                </a:solidFill>
              </a:defRPr>
            </a:pPr>
            <a:r>
              <a:t>PoC + ≥ 3 scénarios d’attaque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5760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20040"/>
          <a:lstStyle/>
          <a:p>
            <a:pPr algn="ctr">
              <a:defRPr b="1" sz="1600">
                <a:solidFill>
                  <a:srgbClr val="0B3D5C"/>
                </a:solidFill>
              </a:defRPr>
            </a:pPr>
            <a:r>
              <a:t>Valorisation</a:t>
            </a:r>
          </a:p>
          <a:p>
            <a:pPr>
              <a:defRPr sz="1400">
                <a:solidFill>
                  <a:srgbClr val="1A1A1A"/>
                </a:solidFill>
              </a:defRPr>
            </a:pPr>
            <a:r>
              <a:t>Mémoire + reco ART + soutenance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4. Périmètre IN /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7A8C"/>
                </a:solidFill>
                <a:latin typeface="Calibri"/>
              </a:defRPr>
            </a:pPr>
            <a:r>
              <a:t>IN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 État de l’art ciblé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 1 cas d’usage ART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 Architecture Zero Trust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 PoC démontrable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 3 scénarios de sécurité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 Mémoire + soutenance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5C26"/>
                </a:solidFill>
                <a:latin typeface="Calibri"/>
              </a:defRPr>
            </a:pPr>
            <a:r>
              <a:t>OUT OF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 Déploiement production SI ART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 Entraînement de modèle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 Certification formelle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 Tous les métiers de l’Agence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 Benchmarks à grande échelle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5. Planning 8 semaines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73152"/>
          <a:lstStyle/>
          <a:p>
            <a:pPr algn="ctr">
              <a:defRPr sz="1600" b="0">
                <a:solidFill>
                  <a:srgbClr val="0B3D5C"/>
                </a:solidFill>
                <a:latin typeface="Calibri"/>
              </a:defRPr>
            </a:pPr>
            <a:r>
              <a:t>S1 Cadrage &amp; validation thème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64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73152"/>
          <a:lstStyle/>
          <a:p>
            <a:pPr algn="ctr">
              <a:defRPr sz="1600" b="0">
                <a:solidFill>
                  <a:srgbClr val="0B3D5C"/>
                </a:solidFill>
                <a:latin typeface="Calibri"/>
              </a:defRPr>
            </a:pPr>
            <a:r>
              <a:t>S2 État de l’art + cas 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39"/>
            <a:ext cx="11064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73152"/>
          <a:lstStyle/>
          <a:p>
            <a:pPr algn="ctr">
              <a:defRPr sz="1600" b="0">
                <a:solidFill>
                  <a:srgbClr val="0B3D5C"/>
                </a:solidFill>
                <a:latin typeface="Calibri"/>
              </a:defRPr>
            </a:pPr>
            <a:r>
              <a:t>S3 Menaces &amp; exigences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11064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73152"/>
          <a:lstStyle/>
          <a:p>
            <a:pPr algn="ctr">
              <a:defRPr sz="1600" b="0">
                <a:solidFill>
                  <a:srgbClr val="0B3D5C"/>
                </a:solidFill>
                <a:latin typeface="Calibri"/>
              </a:defRPr>
            </a:pPr>
            <a:r>
              <a:t>S4 Architecture Zero Trust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73152"/>
          <a:lstStyle/>
          <a:p>
            <a:pPr algn="ctr">
              <a:defRPr sz="1600" b="0">
                <a:solidFill>
                  <a:srgbClr val="0B3D5C"/>
                </a:solidFill>
                <a:latin typeface="Calibri"/>
              </a:defRPr>
            </a:pPr>
            <a:r>
              <a:t>S5 PoC alpha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97680"/>
            <a:ext cx="11064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73152"/>
          <a:lstStyle/>
          <a:p>
            <a:pPr algn="ctr">
              <a:defRPr sz="1600" b="0">
                <a:solidFill>
                  <a:srgbClr val="0B3D5C"/>
                </a:solidFill>
                <a:latin typeface="Calibri"/>
              </a:defRPr>
            </a:pPr>
            <a:r>
              <a:t>S6 Tests d’attaque + PoC beta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37759"/>
            <a:ext cx="11064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73152"/>
          <a:lstStyle/>
          <a:p>
            <a:pPr algn="ctr">
              <a:defRPr sz="1600" b="0">
                <a:solidFill>
                  <a:srgbClr val="0B3D5C"/>
                </a:solidFill>
                <a:latin typeface="Calibri"/>
              </a:defRPr>
            </a:pPr>
            <a:r>
              <a:t>S7 Mémoire 80 % + reco 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77840"/>
            <a:ext cx="11064240" cy="502920"/>
          </a:xfrm>
          <a:prstGeom prst="roundRect">
            <a:avLst/>
          </a:prstGeom>
          <a:solidFill>
            <a:srgbClr val="0B3D5C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73152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S8 Finalisation &amp; SOUTENANCE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6. Intérêt pour l’ART &amp; demande de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•  Anticiper l’encadrement sécurisé des outils d’IA agentique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•  Disposer d’un cadre de contrôle (politique + audit) réutilisable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•  Recevoir des recommandations opérationnelles actionnables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3D5C"/>
                </a:solidFill>
                <a:latin typeface="Calibri"/>
              </a:defRPr>
            </a:pPr>
            <a:r>
              <a:t>Demande : valider (i) l’intitulé, (ii) le cas d’usage unique, (iii) le périmètre PoC hors production, (iv) le planning 8 semaines.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Merci — Discussion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☐ Validé    ☐ Validé avec réserves    ☐ À retravailler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